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0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微软雅黑" panose="020B0503020204020204" charset="-122"/>
              </a:rPr>
              <a:t>基于 L2CS-Net 的实时视线估计系统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374151"/>
                </a:solidFill>
                <a:latin typeface="微软雅黑" panose="020B0503020204020204" charset="-122"/>
              </a:rPr>
              <a:t>目标：用普通摄像头估计屏幕注视点，并生成注意力分析结果</a:t>
            </a:r>
            <a:endParaRPr sz="1800" b="0" dirty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28269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摄像头采集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3264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54096" y="306324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9815" y="328269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模型估计方向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6632" y="3264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0951" y="306324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76671" y="328269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校准成坐标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7" y="3264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7" y="306324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7" y="328269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区域判断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0343" y="3264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84663" y="306324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30384" y="328269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图表输出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输入：普通摄像头画面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核心结果：实时注视点 gaze_x / gaze_y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最终效果：AOI 判断、注视轨迹、热力图、转移矩阵、数字注视选择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1264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Windows + Python + OpenCV + L2CS-Net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779DD8-845E-42D9-A293-D325D7A8E4A5}"/>
              </a:ext>
            </a:extLst>
          </p:cNvPr>
          <p:cNvSpPr txBox="1"/>
          <p:nvPr/>
        </p:nvSpPr>
        <p:spPr>
          <a:xfrm>
            <a:off x="8573577" y="5852160"/>
            <a:ext cx="3277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成员：蔡卓霖，曹昂，张万山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项目如何运行 &amp; 原始方案位置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 panose="020B0503020204020204" charset="-122"/>
              </a:rPr>
              <a:t>先校准，再实时运行，最后从日志生成分析结果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4533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校准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8336" y="1527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2656" y="132588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08375" y="154533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实时运行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1527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9512" y="132588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5231" y="154533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记录日志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7" y="1527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7" y="132588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154533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离线分析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8903" y="1527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93224" y="1325880"/>
            <a:ext cx="1965960" cy="749808"/>
          </a:xfrm>
          <a:prstGeom prst="roundRect">
            <a:avLst/>
          </a:prstGeom>
          <a:solidFill>
            <a:srgbClr val="ECFDF5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38944" y="154533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微软雅黑" panose="020B0503020204020204" charset="-122"/>
              </a:rPr>
              <a:t>展示结果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4688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微软雅黑" panose="020B0503020204020204" charset="-122"/>
              </a:rPr>
              <a:t>项目怎么跑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5166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校准阶段：用户看 16 个目标点，系统学习“视线角度 -&gt; 屏幕坐标”的映射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实时阶段：摄像头每帧进入模型，得到注视点，判断 AOI 区域或数字块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分析阶段：系统读取 gaze_log.csv，生成注视轨迹、热力图和转移矩阵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688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91C1C"/>
                </a:solidFill>
                <a:latin typeface="微软雅黑" panose="020B0503020204020204" charset="-122"/>
              </a:rPr>
              <a:t>原始方案位置与问题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4983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原始方案位置：原来在“视线估计”这一步使用 MediaPipe/OpenCV + 虹膜比例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原始问题：它只看眼部局部比例，头动、光照、反光会让屏幕注视点漂移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5440680"/>
            <a:ext cx="85039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20240" y="55778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微软雅黑" panose="020B0503020204020204" charset="-122"/>
              </a:rPr>
              <a:t>原始方案只替代“视线估计”环节；整套系统还需要校准、记录和分析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新模型：L2CS-Net 概括介绍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 panose="020B0503020204020204" charset="-122"/>
              </a:rPr>
              <a:t>根据官方 GitHub：面向 gaze estimation and tracking 的 PyTorch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微软雅黑" panose="020B0503020204020204" charset="-122"/>
              </a:rPr>
              <a:t>模型输入、处理和输出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5623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输入：摄像头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22199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87168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39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Pipeline 检测人脸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971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3558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ResNet50 提取特征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7216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86783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105655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输出 yaw /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47141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36592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85546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校准为 gaze_x/y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微软雅黑" panose="020B0503020204020204" charset="-122"/>
              </a:rPr>
              <a:t>输出如何进入项目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输入：OpenCV 从摄像头读取的一帧人脸图像 frame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模型处理：Pipeline 接收 frame，内部完成人脸检测、图像预处理和 ResNet50 特征提取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输出：每张检测到的人脸对应的 yaw / pitch 视线方向角，以及置信度等结果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项目应用：把 yaw/pitch 存为 raw_yaw/raw_pitch，再交给校准模型转换成 gaze_x/gaze_y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后续用途：gaze_x/gaze_y 用于 AOI 判断、数字块命中、轨迹图和热力图生成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577840"/>
            <a:ext cx="1042416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7150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微软雅黑" panose="020B0503020204020204" charset="-122"/>
              </a:rPr>
              <a:t>frame -&gt; L2CS-Net -&gt; raw_yaw/raw_pitch -&gt; calibration -&gt; gaze_x/gaze_y -&gt; AOI/图表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训练在模型中起什么作用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 panose="020B0503020204020204" charset="-122"/>
              </a:rPr>
              <a:t>训练让模型学会从人脸外观、眼睛状态和头部姿态推断视线方向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人脸图像 + gaze 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84248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ResNet50 提取特征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688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34056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yaw/pitch 分开预测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186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83864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分类角度区间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6849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33672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回归连续角度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234440"/>
            <a:ext cx="52120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000" b="1">
                <a:solidFill>
                  <a:srgbClr val="0F766E"/>
                </a:solidFill>
                <a:latin typeface="微软雅黑" panose="020B0503020204020204" charset="-122"/>
              </a:rPr>
              <a:t>模型的预</a:t>
            </a:r>
            <a:r>
              <a:rPr sz="2000" b="1">
                <a:solidFill>
                  <a:srgbClr val="0F766E"/>
                </a:solidFill>
                <a:latin typeface="微软雅黑" panose="020B0503020204020204" charset="-122"/>
              </a:rPr>
              <a:t>训练</a:t>
            </a:r>
            <a:r>
              <a:rPr lang="zh-CN" sz="2000" b="1">
                <a:solidFill>
                  <a:srgbClr val="0F766E"/>
                </a:solidFill>
                <a:latin typeface="微软雅黑" panose="020B0503020204020204" charset="-122"/>
              </a:rPr>
              <a:t>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69164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训练数据：人脸图像 + 真实 gaze yaw/pitch 标注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训练目标：让 ResNet50 从脸部外观、眼睛状态、头部姿态中学习视线方向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模型设计：yaw 和 pitch 分开预测，分类判断角度区间，回归细化连续角度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训练结果：模型学到“人脸图像 -&gt; 视线方向角”的映射能力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本项目使用：直接加载 L2CSNet_gaze360.pkl 预训练权重，复用已训练好的 gaze estimation 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577840"/>
            <a:ext cx="1014984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微软雅黑" panose="020B0503020204020204" charset="-122"/>
              </a:rPr>
              <a:t>训练的结果：模型学到从脸部外观/头姿到 gaze direction 的映射能力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校准原理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 panose="020B0503020204020204" charset="-122"/>
              </a:rPr>
              <a:t>L2CS-Net 输出方向角，校准负责把方向角变成屏幕坐标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3258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05305" y="16139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51660" y="13258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88286" y="16139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39" y="13258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71265" y="16139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17620" y="13258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54246" y="16139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20116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05305" y="22997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51660" y="20116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88286" y="22997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34639" y="20116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71265" y="22997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17620" y="20116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54246" y="22997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" y="26974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05305" y="29855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51660" y="26974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288286" y="29855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34639" y="26974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271265" y="29855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17620" y="26974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54246" y="29855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" y="33832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305305" y="36713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51660" y="33832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288286" y="36713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34639" y="33832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271265" y="36713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817620" y="3383280"/>
            <a:ext cx="9829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254246" y="36713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233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微软雅黑" panose="020B0503020204020204" charset="-122"/>
              </a:rPr>
              <a:t>4x4 = 16 个校准点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1234440"/>
            <a:ext cx="5943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为什么需要校准：模型不知道摄像头位置、屏幕尺寸和用户坐姿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采样方式：4x4 共 16 个目标点，用户看点并按空格采样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target_x / target_y：屏幕上红点的真实坐标，用来当作校准答案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yaw_deg / pitch_deg：模型看到用户看这个点时输出的左右/上下视线角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poly2：二次多项式映射，用来学习 (yaw, pitch) -&gt; (screen_x, screen_y)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calibration.json：保存这条映射关系，实时运行时每一帧都要读取它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709160"/>
            <a:ext cx="1042416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5840" y="484632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微软雅黑" panose="020B0503020204020204" charset="-122"/>
              </a:rPr>
              <a:t>[1, yaw, pitch, yaw*pitch, yaw², pitch²]  -&gt;  poly2  -&gt;  screen_x / screen_y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后端数据储存和输出原理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 panose="020B0503020204020204" charset="-122"/>
              </a:rPr>
              <a:t>后端把每帧 gaze 变成日志，再从日志生成分析结果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微软雅黑" panose="020B0503020204020204" charset="-122"/>
              </a:rPr>
              <a:t>每帧保存什么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gaze_x / gaze_y：校准后的屏幕注视点坐标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raw_yaw / raw_pitch：L2CS-Net 原始输出的左右/上下视线角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aoi_id：注视点所在的屏幕区域编号，用来统计用户看了哪个区域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微软雅黑" panose="020B0503020204020204" charset="-122"/>
              </a:rPr>
              <a:t>如何分析输出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gaze_log.csv：逐帧日志，保存每一帧的注视点、置信度和 AOI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fixation：连续停留在同一 AOI 的一段注视，被用来统计停留时间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输出结果：fixations.csv、aoi_summary.csv、transition_matrix.csv 和三张图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532120"/>
            <a:ext cx="978408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56692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微软雅黑" panose="020B0503020204020204" charset="-122"/>
              </a:rPr>
              <a:t>raw frame -&gt; gaze_log.csv -&gt; fixation / summary / transition / figures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全流程概括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 panose="020B0503020204020204" charset="-122"/>
              </a:rPr>
              <a:t>从摄像头输入到最终结果输出的完整链路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OpenCV 摄像头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6276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92807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11679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L2CS-Net + 权重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3774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42615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761487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yaw/pitch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272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92424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1129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16 点校准映射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87705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42231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61103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AOI / 数字块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6268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92040"/>
            <a:ext cx="44805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0109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CSV + 图表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325880"/>
            <a:ext cx="5303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OpenCV：负责不断读取普通摄像头画面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L2CS-Net + 权重：负责把人脸图像转换成 yaw/pitch 视线方向角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calibration.json：负责把方向角翻译成屏幕坐标 gaze_x/gaze_y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AOI / 数字块判断：根据坐标判断用户看的是哪个区域或数字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CSV + 图表：保存过程数据，并生成轨迹图、热力图、转移矩阵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运行效果展示：实时界面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02334" y="1325880"/>
            <a:ext cx="2504492" cy="1984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4564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微软雅黑" panose="020B0503020204020204" charset="-122"/>
              </a:rPr>
              <a:t>摄像头窗口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457" y="1325880"/>
            <a:ext cx="3399205" cy="1984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4840" y="34564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微软雅黑" panose="020B0503020204020204" charset="-122"/>
              </a:rPr>
              <a:t>Attention Plane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47769" y="1325880"/>
            <a:ext cx="3175541" cy="1984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75320" y="34564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微软雅黑" panose="020B0503020204020204" charset="-122"/>
              </a:rPr>
              <a:t>数字选择界面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摄像头窗口：显示实时检测状态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Attention Plane：显示屏幕注视点和轨迹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Digits Mode：通过持续注视数字块完成选择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 panose="020B0503020204020204" charset="-122"/>
              </a:rPr>
              <a:t>运行结果展示：生成图表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 panose="020B0503020204020204" charset="-122"/>
              </a:rPr>
              <a:t>运行结束后自动生成注意力分析结果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546860"/>
            <a:ext cx="3566160" cy="1981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9776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微软雅黑" panose="020B0503020204020204" charset="-122"/>
              </a:rPr>
              <a:t>注视轨迹图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0" y="1546860"/>
            <a:ext cx="3566160" cy="19811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9776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微软雅黑" panose="020B0503020204020204" charset="-122"/>
              </a:rPr>
              <a:t>注意力热力图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8210" y="1234440"/>
            <a:ext cx="304038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75320" y="39776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微软雅黑" panose="020B0503020204020204" charset="-122"/>
              </a:rPr>
              <a:t>AOI 转移矩阵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trajectory.png：展示注视点运动轨迹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gaze_heatmap.png：展示注意力集中区域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transition_matrix.png：展示 AOI 区域转移关系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2412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700" b="1" dirty="0">
                <a:solidFill>
                  <a:srgbClr val="111827"/>
                </a:solidFill>
                <a:latin typeface="微软雅黑" panose="020B0503020204020204" charset="-122"/>
              </a:rPr>
              <a:t>成员分工说明</a:t>
            </a:r>
            <a:endParaRPr sz="2700" b="1" dirty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607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rgbClr val="6B7280"/>
                </a:solidFill>
                <a:latin typeface="微软雅黑" panose="020B0503020204020204" charset="-122"/>
              </a:rPr>
              <a:t>各自完成的工作情况</a:t>
            </a:r>
            <a:endParaRPr sz="1400" b="0" dirty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398" y="1843969"/>
            <a:ext cx="10317481" cy="2569807"/>
          </a:xfrm>
          <a:prstGeom prst="rect">
            <a:avLst/>
          </a:prstGeom>
          <a:solidFill>
            <a:srgbClr val="ECFDF5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6DC92B-80B5-4A5F-8292-D1C45AD700E9}"/>
              </a:ext>
            </a:extLst>
          </p:cNvPr>
          <p:cNvSpPr txBox="1"/>
          <p:nvPr/>
        </p:nvSpPr>
        <p:spPr>
          <a:xfrm>
            <a:off x="911839" y="2590146"/>
            <a:ext cx="9483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曹昂</a:t>
            </a:r>
            <a:r>
              <a:rPr lang="en-US" altLang="zh-CN" dirty="0"/>
              <a:t>-1231001003</a:t>
            </a:r>
            <a:r>
              <a:rPr lang="zh-CN" altLang="en-US" dirty="0"/>
              <a:t>：负责眼动估计算法和模型接入。</a:t>
            </a:r>
          </a:p>
          <a:p>
            <a:r>
              <a:rPr lang="zh-CN" altLang="en-US" dirty="0"/>
              <a:t>蔡卓霖</a:t>
            </a:r>
            <a:r>
              <a:rPr lang="en-US" altLang="zh-CN" dirty="0"/>
              <a:t>-1231001002</a:t>
            </a:r>
            <a:r>
              <a:rPr lang="zh-CN" altLang="en-US" dirty="0"/>
              <a:t>：负责系统运行流程、摄像头追踪和校准功能。</a:t>
            </a:r>
          </a:p>
          <a:p>
            <a:r>
              <a:rPr lang="zh-CN" altLang="en-US" dirty="0"/>
              <a:t>张万山</a:t>
            </a:r>
            <a:r>
              <a:rPr lang="en-US" altLang="zh-CN" dirty="0"/>
              <a:t>-1231001032</a:t>
            </a:r>
            <a:r>
              <a:rPr lang="zh-CN" altLang="en-US" dirty="0"/>
              <a:t>：负责数据分析、可视化结果和项目文档。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703</Words>
  <Application>Microsoft Office PowerPoint</Application>
  <PresentationFormat>宽屏</PresentationFormat>
  <Paragraphs>131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Mr.zhang</dc:creator>
  <dc:description>generated using python-pptx</dc:description>
  <cp:lastModifiedBy>wan'shan zhang</cp:lastModifiedBy>
  <cp:revision>6</cp:revision>
  <dcterms:created xsi:type="dcterms:W3CDTF">2013-01-27T09:14:00Z</dcterms:created>
  <dcterms:modified xsi:type="dcterms:W3CDTF">2026-06-30T11:46:56Z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436F1B57C4FD45B79B234100143FC559_12</vt:lpwstr>
  </property>
  <property fmtid="{D5CDD505-2E9C-101B-9397-08002B2CF9AE}" pid="3" name="KSOProductBuildVer">
    <vt:lpwstr>2052-12.1.0.26895</vt:lpwstr>
  </property>
</Properties>
</file>