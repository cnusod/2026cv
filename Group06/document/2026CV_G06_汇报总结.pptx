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E7F5D-C34B-C70E-D844-2DD373B46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E4660DE-A2FE-1C2E-6E15-E3B903646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75C32D-A943-1471-E005-B410C6FA4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6E85-1E4A-46F6-B2DC-A68EFB85F664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3F85FC-C785-7688-BA5E-434D3EB32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39B02A-1738-637A-996A-78056105F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88FB-270C-4365-BAA1-A755BE855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726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A9688E-49A8-4F6A-7816-74EDA54A4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B10B12-C460-B033-A7BA-28F2A6872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74D10B-23A6-88CA-D332-5E9B61EBD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6E85-1E4A-46F6-B2DC-A68EFB85F664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0FB62A-C5BD-F818-5BC2-EAA7625F7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C56C4E-B85F-1CBA-789F-18F6DB14E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88FB-270C-4365-BAA1-A755BE855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465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A37F92-8437-9FA4-B162-3F5E4C448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95A3FA-28E7-8A94-D79F-1FFAAEADE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4D60DE-19DE-932A-12AA-8297F0791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6E85-1E4A-46F6-B2DC-A68EFB85F664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8773B3-7158-8A90-ADEF-7C13FD21B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51AFAF-1725-6AA3-79B1-6C37EF474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88FB-270C-4365-BAA1-A755BE855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72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EE3176-5798-FE4A-188F-2288266AE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8D49CD-4DF3-7CFD-29B0-70FD19857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86D05E-9996-0C06-0F00-A2850DB96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FAA898-BCB7-5627-ADB7-A497AB63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6E85-1E4A-46F6-B2DC-A68EFB85F664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0C9C41-8262-8592-6098-6D75CEA0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68F6EF-D250-B42F-E0A4-8D58C3BBC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88FB-270C-4365-BAA1-A755BE855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036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816783-83E2-4BDD-8A75-39F0CBB9A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30C487-3C0C-075F-F7E3-6FC55A04A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591D6C-7E85-647B-9581-08A6B8F3B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00A60D2-B19D-B363-608D-B5DDDA73D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D8CD243-B19C-AC72-377E-AADE4F88D1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BC4F04-E992-55B6-499B-4D7B8262C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6E85-1E4A-46F6-B2DC-A68EFB85F664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35820C1-7E2F-D7A7-CE91-5D71B4743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307402A-F24E-1BA1-2EB4-D13180C6C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88FB-270C-4365-BAA1-A755BE855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786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86E533-9B70-58C0-8545-8D049B15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4B87834-B89A-922F-2A76-92BDD4E20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6E85-1E4A-46F6-B2DC-A68EFB85F664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3FD2C2A-C09E-5FD8-47A5-4BD69A15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57A7CB-16BE-23F6-B6D0-9D691A904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88FB-270C-4365-BAA1-A755BE855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32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AF5D4B-94B4-A031-4160-3A837999F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6E85-1E4A-46F6-B2DC-A68EFB85F664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DFDE09-E80C-CCB7-3310-899C519F2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6FC463-1996-9A4A-5DFA-3047AF24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88FB-270C-4365-BAA1-A755BE855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52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D31488-7820-A773-DC51-F6D3188AE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ABC381-0AA2-4294-37D1-CBFB3D64B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EA68A4-D6AA-0DCE-A6D3-65E3766F8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DEA107-61E5-D811-C3C5-68A1B2356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6E85-1E4A-46F6-B2DC-A68EFB85F664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60D8D4-631B-0E5B-0448-76FF79034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7CF53A-83A7-23CD-7B85-4403CED0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88FB-270C-4365-BAA1-A755BE855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423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45D3F6-484B-8658-E4CD-233A485B4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209D97C-505E-50AA-6121-20730AEEB9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5FB19B-BD8C-448A-728E-C03D2ADC6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811526-B3F3-F11F-7483-90A72C4C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6E85-1E4A-46F6-B2DC-A68EFB85F664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BF3769-80FF-46A1-3DE4-EA55E7DDF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224F52-416E-F3F9-33F2-D2C975B8B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88FB-270C-4365-BAA1-A755BE855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288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380A2-94B6-1BCB-4AFD-F0B1D1186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A28C69-D63E-6DE2-0F17-FDB722EDD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5C145E-7DDC-3EBD-F679-94AC32E81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6E85-1E4A-46F6-B2DC-A68EFB85F664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661146-ECF6-5DA0-B457-3811D77A4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55553C-F62E-9F2E-1D75-B15DFE69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88FB-270C-4365-BAA1-A755BE855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76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7112A12-F5EF-58AE-92E1-B1416F53D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1E0BAD-39C1-99F1-35FC-A8A4DEFB8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B5AF0B-8125-CB9C-48D5-33DAAB211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6E85-1E4A-46F6-B2DC-A68EFB85F664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28E0E5-0759-18A2-AE5E-2636DC682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138DC2-1E58-A4C2-BC93-9F91BFACA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588FB-270C-4365-BAA1-A755BE855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383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2416E47-E3BB-E43B-5753-02083B67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FA4B2B-4C11-2EE5-3DE8-58082F793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A7BE3F-D903-6AA2-72E1-02D6B0D36F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906E85-1E4A-46F6-B2DC-A68EFB85F664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5E9610-325D-5CF3-F2C4-627E82A0C7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55195F-94A7-4C7C-E25C-5C335DB6B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588FB-270C-4365-BAA1-A755BE855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3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4815E5-CF99-58C6-D678-AEFAAB922F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实时人脸情绪识别系统</a:t>
            </a:r>
            <a:r>
              <a:rPr lang="en-US" altLang="zh-CN" sz="2800" dirty="0"/>
              <a:t>——</a:t>
            </a:r>
            <a:r>
              <a:rPr lang="zh-CN" altLang="en-US" sz="2800" dirty="0"/>
              <a:t>基于</a:t>
            </a:r>
            <a:r>
              <a:rPr lang="en-US" altLang="zh-CN" sz="2800" dirty="0" err="1"/>
              <a:t>DeepFace</a:t>
            </a:r>
            <a:r>
              <a:rPr lang="zh-CN" altLang="en-US" sz="2800" dirty="0"/>
              <a:t>与</a:t>
            </a:r>
            <a:r>
              <a:rPr lang="en-US" altLang="zh-CN" sz="2800" dirty="0"/>
              <a:t>OpenCV</a:t>
            </a:r>
            <a:endParaRPr lang="zh-CN" altLang="en-US" sz="28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15E0439-4A2B-5B5A-C002-3648B20772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zh-CN" altLang="en-US" dirty="0"/>
              <a:t>参数调优与算法解析</a:t>
            </a:r>
            <a:endParaRPr lang="en-US" altLang="zh-CN" dirty="0"/>
          </a:p>
          <a:p>
            <a:pPr algn="r"/>
            <a:r>
              <a:rPr lang="zh-CN" altLang="en-US"/>
              <a:t>汇报人：盛奕翔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0590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14AA71-6A5F-2B1F-84AF-A37B749A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954E08-7899-E96B-2BFF-A6D37B602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通过摄像头实时监测人脸，识别七种基本情绪</a:t>
            </a:r>
            <a:endParaRPr lang="en-US" altLang="zh-CN" dirty="0"/>
          </a:p>
          <a:p>
            <a:r>
              <a:rPr lang="zh-CN" altLang="en-US" dirty="0"/>
              <a:t>核心技术栈</a:t>
            </a:r>
            <a:r>
              <a:rPr lang="en-US" altLang="zh-CN" dirty="0" err="1"/>
              <a:t>PyTorch</a:t>
            </a:r>
            <a:r>
              <a:rPr lang="en-US" altLang="zh-CN" dirty="0"/>
              <a:t>/</a:t>
            </a:r>
            <a:r>
              <a:rPr lang="en-US" altLang="zh-CN" dirty="0" err="1"/>
              <a:t>TenserFlow</a:t>
            </a:r>
            <a:r>
              <a:rPr lang="en-US" altLang="zh-CN" dirty="0"/>
              <a:t> + OpenCV</a:t>
            </a:r>
          </a:p>
          <a:p>
            <a:r>
              <a:rPr lang="zh-CN" altLang="en-US" dirty="0"/>
              <a:t>核心优势：</a:t>
            </a:r>
            <a:endParaRPr lang="en-US" altLang="zh-CN" dirty="0"/>
          </a:p>
          <a:p>
            <a:pPr lvl="1"/>
            <a:r>
              <a:rPr lang="zh-CN" altLang="zh-CN" dirty="0"/>
              <a:t>开箱即用，无需训练</a:t>
            </a:r>
          </a:p>
          <a:p>
            <a:pPr lvl="1"/>
            <a:r>
              <a:rPr lang="zh-CN" altLang="zh-CN" dirty="0"/>
              <a:t>支持多种人脸检测与特征提取模型</a:t>
            </a:r>
          </a:p>
          <a:p>
            <a:pPr lvl="1"/>
            <a:r>
              <a:rPr lang="zh-CN" altLang="zh-CN" dirty="0"/>
              <a:t>可控帧率机制：平衡实时性与CPU负载</a:t>
            </a:r>
          </a:p>
          <a:p>
            <a:pPr lvl="1"/>
            <a:r>
              <a:rPr lang="zh-CN" altLang="zh-CN" dirty="0"/>
              <a:t>应用场景：用户调研、教育辅助、心理健康监测、人机交互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7904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88AB234-BD7C-05CA-2DB3-1DD61656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61458" cy="6858000"/>
          </a:xfrm>
          <a:prstGeom prst="rect">
            <a:avLst/>
          </a:prstGeom>
        </p:spPr>
      </p:pic>
      <p:sp>
        <p:nvSpPr>
          <p:cNvPr id="6" name="标题 5">
            <a:extLst>
              <a:ext uri="{FF2B5EF4-FFF2-40B4-BE49-F238E27FC236}">
                <a16:creationId xmlns:a16="http://schemas.microsoft.com/office/drawing/2014/main" id="{F5CE3464-1507-781C-A694-9E3EA47D2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84FBAF8-6EE4-6428-E818-64841499D9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682E7843-DFA0-12C0-0E66-78209460AF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CN" altLang="zh-CN" sz="1800" dirty="0"/>
              <a:t>每隔 N 帧才执行一次 人脸检测 + 情绪分析</a:t>
            </a:r>
          </a:p>
          <a:p>
            <a:r>
              <a:rPr lang="zh-CN" altLang="zh-CN" sz="1800" dirty="0"/>
              <a:t>中间的跳帧直接 复用上一次的情绪结果</a:t>
            </a:r>
          </a:p>
          <a:p>
            <a:r>
              <a:rPr lang="zh-CN" altLang="zh-CN" sz="1800" dirty="0"/>
              <a:t>收益：避免单帧检测失败导致的情绪抖动，同时大幅降低 CPU 负载</a:t>
            </a:r>
          </a:p>
        </p:txBody>
      </p:sp>
    </p:spTree>
    <p:extLst>
      <p:ext uri="{BB962C8B-B14F-4D97-AF65-F5344CB8AC3E}">
        <p14:creationId xmlns:p14="http://schemas.microsoft.com/office/powerpoint/2010/main" val="2450556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3C4FA9-EEB6-7199-4CAE-0776DDD09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人脸检测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CFF61D-B1FC-FF00-EF3F-DF71D5B5E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可选后端：</a:t>
            </a:r>
            <a:endParaRPr lang="en-US" altLang="zh-CN" dirty="0"/>
          </a:p>
          <a:p>
            <a:r>
              <a:rPr lang="zh-CN" altLang="zh-CN" dirty="0"/>
              <a:t>opencv：基于Haar级联分类器，速度极快，准确率一般</a:t>
            </a:r>
          </a:p>
          <a:p>
            <a:r>
              <a:rPr lang="zh-CN" altLang="zh-CN" dirty="0"/>
              <a:t>mtcnn：基于多任务级联CNN，准确率高，速度较慢</a:t>
            </a:r>
          </a:p>
          <a:p>
            <a:r>
              <a:rPr lang="zh-CN" altLang="zh-CN" dirty="0"/>
              <a:t>retinaface：基于单阶段检测，精度高，资源消耗大</a:t>
            </a:r>
            <a:endParaRPr lang="en-US" altLang="zh-CN" dirty="0"/>
          </a:p>
          <a:p>
            <a:r>
              <a:rPr lang="zh-CN" altLang="zh-CN" dirty="0"/>
              <a:t>本系统采用：opencv 作为默认（速度优先）</a:t>
            </a:r>
          </a:p>
        </p:txBody>
      </p:sp>
    </p:spTree>
    <p:extLst>
      <p:ext uri="{BB962C8B-B14F-4D97-AF65-F5344CB8AC3E}">
        <p14:creationId xmlns:p14="http://schemas.microsoft.com/office/powerpoint/2010/main" val="3246266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C2FE56-378F-B294-884E-39966FDBD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情绪识别模型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3E4ED0-47AF-BE6D-1C58-AE1F05027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工作流程</a:t>
            </a:r>
            <a:endParaRPr lang="en-US" altLang="zh-CN" dirty="0"/>
          </a:p>
          <a:p>
            <a:pPr lvl="1"/>
            <a:r>
              <a:rPr lang="zh-CN" altLang="zh-CN" dirty="0"/>
              <a:t>检测 (Detect)：在图片中定位人脸。</a:t>
            </a:r>
          </a:p>
          <a:p>
            <a:pPr lvl="1"/>
            <a:r>
              <a:rPr lang="zh-CN" altLang="zh-CN" dirty="0"/>
              <a:t>对齐 (Align)：将人脸旋转到标准水平位置，公式为 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zh-CN" dirty="0"/>
              <a:t>angle = arctan2(left_eye.y - right_eye.y, left_eye.x - right_eye.x)。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zh-CN" dirty="0"/>
              <a:t>不做对齐操作，识别准确率可能会下降 12%-15%。</a:t>
            </a:r>
          </a:p>
          <a:p>
            <a:pPr lvl="1"/>
            <a:r>
              <a:rPr lang="zh-CN" altLang="en-US" b="1" dirty="0"/>
              <a:t>（注：</a:t>
            </a:r>
            <a:r>
              <a:rPr lang="zh-CN" altLang="zh-CN" b="1" dirty="0"/>
              <a:t>左右眼坐标来自人脸关键点检测</a:t>
            </a:r>
            <a:r>
              <a:rPr lang="zh-CN" altLang="en-US" b="1" dirty="0"/>
              <a:t>）</a:t>
            </a:r>
            <a:endParaRPr lang="en-US" altLang="zh-CN" dirty="0"/>
          </a:p>
          <a:p>
            <a:pPr lvl="1"/>
            <a:r>
              <a:rPr lang="zh-CN" altLang="zh-CN" dirty="0"/>
              <a:t>归一化 (Normalize)：将像素值处理到统一范围（如0到1），让模型更容易处理。</a:t>
            </a:r>
            <a:endParaRPr lang="en-US" altLang="zh-CN" dirty="0"/>
          </a:p>
          <a:p>
            <a:pPr lvl="1"/>
            <a:r>
              <a:rPr lang="zh-CN" altLang="zh-CN" dirty="0"/>
              <a:t>深度卷积网络提取512维特征向量 将特征输入softmax分类器，得到7种情绪的概率</a:t>
            </a:r>
          </a:p>
        </p:txBody>
      </p:sp>
    </p:spTree>
    <p:extLst>
      <p:ext uri="{BB962C8B-B14F-4D97-AF65-F5344CB8AC3E}">
        <p14:creationId xmlns:p14="http://schemas.microsoft.com/office/powerpoint/2010/main" val="4185866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08A43-2AD2-BCE4-631A-355DB6FC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969" y="-12138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一些影响结果的参数（识别模型，检测后端，处理帧率）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C9463B7E-4EC3-26A0-7665-A7FF1D594F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5918242"/>
              </p:ext>
            </p:extLst>
          </p:nvPr>
        </p:nvGraphicFramePr>
        <p:xfrm>
          <a:off x="720973" y="881917"/>
          <a:ext cx="10515596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73570677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20455877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83415778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2552281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6743753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16395510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836621132"/>
                    </a:ext>
                  </a:extLst>
                </a:gridCol>
              </a:tblGrid>
              <a:tr h="1148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识别模型 (model_name)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检测后端 (detector_backend)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处理帧率 (PROCESS_EVERY_N_FRAMES)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平均推理时间 (ms)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检测成功率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平均置信度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显示帧率 (FPS)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3758386"/>
                  </a:ext>
                </a:extLst>
              </a:tr>
              <a:tr h="358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Facenet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opencv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6614"/>
                  </a:ext>
                </a:extLst>
              </a:tr>
              <a:tr h="358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solidFill>
                            <a:srgbClr val="7030A0"/>
                          </a:solidFill>
                        </a:rPr>
                        <a:t>Facenet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solidFill>
                            <a:srgbClr val="7030A0"/>
                          </a:solidFill>
                        </a:rPr>
                        <a:t>opencv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solidFill>
                            <a:srgbClr val="7030A0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solidFill>
                            <a:srgbClr val="7030A0"/>
                          </a:solidFill>
                        </a:rPr>
                        <a:t>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solidFill>
                            <a:srgbClr val="7030A0"/>
                          </a:solidFill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solidFill>
                            <a:srgbClr val="7030A0"/>
                          </a:solidFill>
                        </a:rPr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solidFill>
                            <a:srgbClr val="7030A0"/>
                          </a:solidFill>
                        </a:rPr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99559"/>
                  </a:ext>
                </a:extLst>
              </a:tr>
              <a:tr h="358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solidFill>
                            <a:srgbClr val="FF0000"/>
                          </a:solidFill>
                        </a:rPr>
                        <a:t>Facenet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solidFill>
                            <a:srgbClr val="FF0000"/>
                          </a:solidFill>
                        </a:rPr>
                        <a:t>opencv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solidFill>
                            <a:srgbClr val="FF0000"/>
                          </a:solidFill>
                        </a:rPr>
                        <a:t>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solidFill>
                            <a:srgbClr val="FF0000"/>
                          </a:solidFill>
                        </a:rPr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solidFill>
                            <a:srgbClr val="FF0000"/>
                          </a:solidFill>
                        </a:rPr>
                        <a:t>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solidFill>
                            <a:srgbClr val="FF0000"/>
                          </a:solidFill>
                        </a:rPr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518125"/>
                  </a:ext>
                </a:extLst>
              </a:tr>
              <a:tr h="358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mtcnn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opencv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0442737"/>
                  </a:ext>
                </a:extLst>
              </a:tr>
              <a:tr h="358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mtcnn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opencv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5721642"/>
                  </a:ext>
                </a:extLst>
              </a:tr>
              <a:tr h="358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mtcnn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opencv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0654906"/>
                  </a:ext>
                </a:extLst>
              </a:tr>
              <a:tr h="358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Facenet512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opencv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8623567"/>
                  </a:ext>
                </a:extLst>
              </a:tr>
              <a:tr h="358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Facenet512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opencv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7324610"/>
                  </a:ext>
                </a:extLst>
              </a:tr>
              <a:tr h="3325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Facenet512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opencv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625768"/>
                  </a:ext>
                </a:extLst>
              </a:tr>
              <a:tr h="3325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ArcFace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opencv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114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009723"/>
                  </a:ext>
                </a:extLst>
              </a:tr>
              <a:tr h="3325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ArcFace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opencv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931279"/>
                  </a:ext>
                </a:extLst>
              </a:tr>
              <a:tr h="3325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ArcFace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opencv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3139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364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49B93D9-AF46-C44A-8135-FEAFBD856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711" y="0"/>
            <a:ext cx="4315976" cy="323698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6D94B95-A0B9-6349-117B-405B4A8EC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229" y="0"/>
            <a:ext cx="4353808" cy="32369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7861F6D-722C-9AC3-38E4-AD28DCFB2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11" y="3330717"/>
            <a:ext cx="4320473" cy="323698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67CE8C3-E99E-C86D-1C6D-EEB9156D62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6229" y="3330717"/>
            <a:ext cx="4353808" cy="323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97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1DFEC8-F6AD-E28E-2809-40103DD0B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PROCESS_EVERY_N_FRAMES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158971-8074-A4BA-3555-4109AA278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作用：控制每多少帧执行一次完整的情绪分析。</a:t>
            </a:r>
          </a:p>
          <a:p>
            <a:r>
              <a:rPr lang="zh-CN" altLang="zh-CN" dirty="0"/>
              <a:t>取值范围：1 ~ 10+</a:t>
            </a:r>
          </a:p>
          <a:p>
            <a:r>
              <a:rPr lang="zh-CN" altLang="zh-CN" dirty="0"/>
              <a:t>效果对比：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zh-CN" dirty="0"/>
          </a:p>
          <a:p>
            <a:r>
              <a:rPr lang="zh-CN" altLang="zh-CN" dirty="0"/>
              <a:t>防抖动原理：避免因单帧检测失败导致情绪标签频繁跳变。</a:t>
            </a:r>
          </a:p>
          <a:p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A30D0D8-9FE2-B73B-873E-C65B00765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993142"/>
              </p:ext>
            </p:extLst>
          </p:nvPr>
        </p:nvGraphicFramePr>
        <p:xfrm>
          <a:off x="1023815" y="3381117"/>
          <a:ext cx="6502400" cy="172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956838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6490903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9895479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76670381"/>
                    </a:ext>
                  </a:extLst>
                </a:gridCol>
              </a:tblGrid>
              <a:tr h="34022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b="0" dirty="0">
                          <a:effectLst/>
                          <a:latin typeface="quote-cjk-patch"/>
                        </a:rPr>
                        <a:t>参数值 (跳帧设置)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b="0">
                          <a:effectLst/>
                          <a:latin typeface="quote-cjk-patch"/>
                        </a:rPr>
                        <a:t>CPU 占用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b="0">
                          <a:effectLst/>
                          <a:latin typeface="quote-cjk-patch"/>
                        </a:rPr>
                        <a:t>情绪响应延迟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b="0">
                          <a:effectLst/>
                          <a:latin typeface="quote-cjk-patch"/>
                        </a:rPr>
                        <a:t>画面流畅度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3089513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0">
                          <a:effectLst/>
                          <a:latin typeface="quote-cjk-patch"/>
                        </a:rPr>
                        <a:t>1 (每帧分析)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0">
                          <a:effectLst/>
                          <a:latin typeface="quote-cjk-patch"/>
                        </a:rPr>
                        <a:t>极高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0">
                          <a:effectLst/>
                          <a:latin typeface="quote-cjk-patch"/>
                        </a:rPr>
                        <a:t>实时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0">
                          <a:effectLst/>
                          <a:latin typeface="quote-cjk-patch"/>
                        </a:rPr>
                        <a:t>卡顿明显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516481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0" dirty="0">
                          <a:effectLst/>
                          <a:latin typeface="quote-cjk-patch"/>
                        </a:rPr>
                        <a:t>3</a:t>
                      </a:r>
                      <a:r>
                        <a:rPr lang="en-US" altLang="zh-CN" b="0" dirty="0">
                          <a:effectLst/>
                          <a:latin typeface="quote-cjk-patch"/>
                        </a:rPr>
                        <a:t>/</a:t>
                      </a:r>
                      <a:r>
                        <a:rPr lang="zh-CN" b="0" dirty="0">
                          <a:effectLst/>
                          <a:latin typeface="quote-cjk-patch"/>
                        </a:rPr>
                        <a:t>5 (推荐)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0">
                          <a:effectLst/>
                          <a:latin typeface="quote-cjk-patch"/>
                        </a:rPr>
                        <a:t>中等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0">
                          <a:effectLst/>
                          <a:latin typeface="quote-cjk-patch"/>
                        </a:rPr>
                        <a:t>约 0.1‑0.2 s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0">
                          <a:effectLst/>
                          <a:latin typeface="quote-cjk-patch"/>
                        </a:rPr>
                        <a:t>流畅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2277727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0">
                          <a:effectLst/>
                          <a:latin typeface="quote-cjk-patch"/>
                        </a:rPr>
                        <a:t>10+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0">
                          <a:effectLst/>
                          <a:latin typeface="quote-cjk-patch"/>
                        </a:rPr>
                        <a:t>低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0">
                          <a:effectLst/>
                          <a:latin typeface="quote-cjk-patch"/>
                        </a:rPr>
                        <a:t>约 0.5 s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0" dirty="0">
                          <a:effectLst/>
                          <a:latin typeface="quote-cjk-patch"/>
                        </a:rPr>
                        <a:t>非常流畅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4128924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6989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B8C9108-DD4D-125E-7656-85DE59170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264510"/>
              </p:ext>
            </p:extLst>
          </p:nvPr>
        </p:nvGraphicFramePr>
        <p:xfrm>
          <a:off x="950058" y="453903"/>
          <a:ext cx="10527324" cy="4111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709">
                  <a:extLst>
                    <a:ext uri="{9D8B030D-6E8A-4147-A177-3AD203B41FA5}">
                      <a16:colId xmlns:a16="http://schemas.microsoft.com/office/drawing/2014/main" val="3570288413"/>
                    </a:ext>
                  </a:extLst>
                </a:gridCol>
                <a:gridCol w="1867876">
                  <a:extLst>
                    <a:ext uri="{9D8B030D-6E8A-4147-A177-3AD203B41FA5}">
                      <a16:colId xmlns:a16="http://schemas.microsoft.com/office/drawing/2014/main" val="2865874839"/>
                    </a:ext>
                  </a:extLst>
                </a:gridCol>
                <a:gridCol w="1019908">
                  <a:extLst>
                    <a:ext uri="{9D8B030D-6E8A-4147-A177-3AD203B41FA5}">
                      <a16:colId xmlns:a16="http://schemas.microsoft.com/office/drawing/2014/main" val="2158680308"/>
                    </a:ext>
                  </a:extLst>
                </a:gridCol>
                <a:gridCol w="1318846">
                  <a:extLst>
                    <a:ext uri="{9D8B030D-6E8A-4147-A177-3AD203B41FA5}">
                      <a16:colId xmlns:a16="http://schemas.microsoft.com/office/drawing/2014/main" val="1558168050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1720985522"/>
                    </a:ext>
                  </a:extLst>
                </a:gridCol>
                <a:gridCol w="2887785">
                  <a:extLst>
                    <a:ext uri="{9D8B030D-6E8A-4147-A177-3AD203B41FA5}">
                      <a16:colId xmlns:a16="http://schemas.microsoft.com/office/drawing/2014/main" val="2363677846"/>
                    </a:ext>
                  </a:extLst>
                </a:gridCol>
              </a:tblGrid>
              <a:tr h="48196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b="0" dirty="0">
                          <a:effectLst/>
                          <a:latin typeface="quote-cjk-patch"/>
                        </a:rPr>
                        <a:t>参数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b="0" dirty="0">
                          <a:effectLst/>
                          <a:latin typeface="quote-cjk-patch"/>
                        </a:rPr>
                        <a:t>变化方向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b="0">
                          <a:effectLst/>
                          <a:latin typeface="quote-cjk-patch"/>
                        </a:rPr>
                        <a:t>对CPU占用影响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b="0">
                          <a:effectLst/>
                          <a:latin typeface="quote-cjk-patch"/>
                        </a:rPr>
                        <a:t>对处理帧率(fps)影响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b="0" dirty="0">
                          <a:effectLst/>
                          <a:latin typeface="quote-cjk-patch"/>
                        </a:rPr>
                        <a:t>对情绪识别准确率影响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b="0" dirty="0">
                          <a:effectLst/>
                          <a:latin typeface="quote-cjk-patch"/>
                        </a:rPr>
                        <a:t>对延迟(ms)影响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127461701"/>
                  </a:ext>
                </a:extLst>
              </a:tr>
              <a:tr h="46480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PROCESS_EVERY_N_FRAMES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1 → 5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↓39% 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↑1.9倍 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↓3</a:t>
                      </a:r>
                      <a:r>
                        <a:rPr lang="en-US" altLang="zh-CN" sz="1100" b="0" dirty="0">
                          <a:effectLst/>
                          <a:latin typeface="quote-cjk-patch"/>
                        </a:rPr>
                        <a:t>%</a:t>
                      </a:r>
                      <a:endParaRPr lang="zh-CN" sz="1100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基本不变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883681697"/>
                  </a:ext>
                </a:extLst>
              </a:tr>
              <a:tr h="32824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>
                          <a:effectLst/>
                          <a:latin typeface="quote-cjk-patch"/>
                        </a:rPr>
                        <a:t>PROCESS_EVERY_N_FRAMES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>
                          <a:effectLst/>
                          <a:latin typeface="quote-cjk-patch"/>
                        </a:rPr>
                        <a:t>5 → 10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↓50%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↑1.8倍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↓5~8%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↓50%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856449775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detector_backend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>
                          <a:effectLst/>
                          <a:latin typeface="quote-cjk-patch"/>
                        </a:rPr>
                        <a:t>opencv → mtcnn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↑200%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↓65%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↑15%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↑200%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298341591"/>
                  </a:ext>
                </a:extLst>
              </a:tr>
              <a:tr h="28135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>
                          <a:effectLst/>
                          <a:latin typeface="quote-cjk-patch"/>
                        </a:rPr>
                        <a:t>detector_backend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>
                          <a:effectLst/>
                          <a:latin typeface="quote-cjk-patch"/>
                        </a:rPr>
                        <a:t>mtcnn → retinaface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↑150%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↓40%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↑8%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↑150%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096990160"/>
                  </a:ext>
                </a:extLst>
              </a:tr>
              <a:tr h="45817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enforce_detection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False → True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>
                          <a:effectLst/>
                          <a:latin typeface="quote-cjk-patch"/>
                        </a:rPr>
                        <a:t>持平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>
                          <a:effectLst/>
                          <a:latin typeface="quote-cjk-patch"/>
                        </a:rPr>
                        <a:t>持平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>
                          <a:effectLst/>
                          <a:latin typeface="quote-cjk-patch"/>
                        </a:rPr>
                        <a:t>↑2%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持平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795785280"/>
                  </a:ext>
                </a:extLst>
              </a:tr>
              <a:tr h="36927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model_name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Facenet → Facenet512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↑40%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↓28% 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↑1% 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↑40% </a:t>
                      </a:r>
                      <a:r>
                        <a:rPr lang="zh-CN" sz="1100" b="0" i="1" dirty="0">
                          <a:effectLst/>
                          <a:latin typeface="quote-cjk-patch"/>
                        </a:rPr>
                        <a:t>(27ms增量)</a:t>
                      </a:r>
                      <a:endParaRPr lang="zh-CN" sz="1100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54584596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>
                          <a:effectLst/>
                          <a:latin typeface="quote-cjk-patch"/>
                        </a:rPr>
                        <a:t>model_name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Facenet → ArcFace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↑70%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↓43%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↓1% 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↑70% </a:t>
                      </a:r>
                      <a:r>
                        <a:rPr lang="zh-CN" sz="1100" b="0" i="1" dirty="0">
                          <a:effectLst/>
                          <a:latin typeface="quote-cjk-patch"/>
                        </a:rPr>
                        <a:t>(47ms增量)</a:t>
                      </a:r>
                      <a:endParaRPr lang="zh-CN" sz="1100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611632308"/>
                  </a:ext>
                </a:extLst>
              </a:tr>
              <a:tr h="53248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>
                          <a:effectLst/>
                          <a:latin typeface="quote-cjk-patch"/>
                        </a:rPr>
                        <a:t>摄像头分辨率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>
                          <a:effectLst/>
                          <a:latin typeface="quote-cjk-patch"/>
                        </a:rPr>
                        <a:t>640×480 → 320×240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↓60%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↑2.5倍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↓10%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sz="1100" b="0" dirty="0">
                          <a:effectLst/>
                          <a:latin typeface="quote-cjk-patch"/>
                        </a:rPr>
                        <a:t>↓60%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344878825"/>
                  </a:ext>
                </a:extLst>
              </a:tr>
            </a:tbl>
          </a:graphicData>
        </a:graphic>
      </p:graphicFrame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1CAB076-03EB-2FB1-3170-9E1AB2E70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53354"/>
            <a:ext cx="10515600" cy="1500187"/>
          </a:xfrm>
        </p:spPr>
        <p:txBody>
          <a:bodyPr>
            <a:normAutofit fontScale="92500" lnSpcReduction="20000"/>
          </a:bodyPr>
          <a:lstStyle/>
          <a:p>
            <a:r>
              <a:rPr lang="zh-CN" altLang="zh-CN" b="1" dirty="0"/>
              <a:t>说明</a:t>
            </a:r>
            <a:endParaRPr lang="zh-CN" altLang="zh-CN" dirty="0"/>
          </a:p>
          <a:p>
            <a:r>
              <a:rPr lang="zh-CN" altLang="zh-CN" dirty="0"/>
              <a:t>“处理帧率”指实际调用DeepFace的频率；显示帧率受跳帧参数影响更大。</a:t>
            </a:r>
          </a:p>
          <a:p>
            <a:r>
              <a:rPr lang="zh-CN" altLang="zh-CN" dirty="0"/>
              <a:t>“情绪识别准确率”的下降主要体现在表情快速转换的瞬间，稳态表情基本不变。</a:t>
            </a:r>
          </a:p>
          <a:p>
            <a:r>
              <a:rPr lang="zh-CN" altLang="zh-CN" dirty="0"/>
              <a:t>“延迟”指从人脸出现到情绪标签更新的时间差。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3576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7E0B1987-7F7E-7531-2E9D-B6A1D93BF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2800" dirty="0"/>
              <a:t>跳帧对帧率和置信度的影响（实测与趋势解释）</a:t>
            </a:r>
            <a:endParaRPr lang="zh-CN" altLang="en-US" sz="28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506D28A-4A20-7A7B-69A1-82A119C3865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388521"/>
            <a:ext cx="5181600" cy="3225545"/>
          </a:xfrm>
          <a:prstGeom prst="rect">
            <a:avLst/>
          </a:prstGeom>
        </p:spPr>
      </p:pic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8B92600-BD07-6044-B8DB-24FC31D7C9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zh-CN" dirty="0"/>
              <a:t>N=2,3时FPS达到50，之后下降，可能是受限于摄像头采集上限或显示同步机制。</a:t>
            </a:r>
            <a:endParaRPr lang="en-US" altLang="zh-CN" dirty="0"/>
          </a:p>
          <a:p>
            <a:r>
              <a:rPr lang="zh-CN" altLang="zh-CN" dirty="0"/>
              <a:t>但整体趋势表明，N≥2后置信度仅下降约3个百分点，而流畅度提升数倍。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6873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284622-F3EB-5AC6-3D1B-42C48F3B2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结论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4B7465B7-3195-A704-97FD-804F82095D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8807270"/>
              </p:ext>
            </p:extLst>
          </p:nvPr>
        </p:nvGraphicFramePr>
        <p:xfrm>
          <a:off x="838200" y="1825625"/>
          <a:ext cx="10515600" cy="2894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1908">
                  <a:extLst>
                    <a:ext uri="{9D8B030D-6E8A-4147-A177-3AD203B41FA5}">
                      <a16:colId xmlns:a16="http://schemas.microsoft.com/office/drawing/2014/main" val="4189739989"/>
                    </a:ext>
                  </a:extLst>
                </a:gridCol>
                <a:gridCol w="8733692">
                  <a:extLst>
                    <a:ext uri="{9D8B030D-6E8A-4147-A177-3AD203B41FA5}">
                      <a16:colId xmlns:a16="http://schemas.microsoft.com/office/drawing/2014/main" val="1638324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b="0" dirty="0">
                          <a:effectLst/>
                          <a:latin typeface="quote-cjk-patch"/>
                        </a:rPr>
                        <a:t>维度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b="0" dirty="0">
                          <a:effectLst/>
                          <a:latin typeface="quote-cjk-patch"/>
                        </a:rPr>
                        <a:t>关键结论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1683454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1">
                          <a:effectLst/>
                          <a:latin typeface="quote-cjk-patch"/>
                        </a:rPr>
                        <a:t>跳帧机制</a:t>
                      </a:r>
                      <a:endParaRPr lang="zh-CN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zh-CN" b="0" dirty="0">
                          <a:effectLst/>
                          <a:latin typeface="Menlo"/>
                        </a:rPr>
                        <a:t>PROCESS_EVERY_N_FRAMES = 3 或 5</a:t>
                      </a:r>
                      <a:r>
                        <a:rPr lang="zh-CN" b="0" dirty="0">
                          <a:effectLst/>
                          <a:latin typeface="quote-cjk-patch"/>
                        </a:rPr>
                        <a:t> 是最佳平衡点：</a:t>
                      </a:r>
                      <a:br>
                        <a:rPr lang="zh-CN" b="0" dirty="0">
                          <a:effectLst/>
                          <a:latin typeface="quote-cjk-patch"/>
                        </a:rPr>
                      </a:br>
                      <a:r>
                        <a:rPr lang="zh-CN" b="0" dirty="0">
                          <a:effectLst/>
                          <a:latin typeface="quote-cjk-patch"/>
                        </a:rPr>
                        <a:t>显示帧率提升 2~3 倍（10→30 FPS），</a:t>
                      </a:r>
                      <a:br>
                        <a:rPr lang="zh-CN" b="0" dirty="0">
                          <a:effectLst/>
                          <a:latin typeface="quote-cjk-patch"/>
                        </a:rPr>
                      </a:br>
                      <a:r>
                        <a:rPr lang="zh-CN" b="0" dirty="0">
                          <a:effectLst/>
                          <a:latin typeface="quote-cjk-patch"/>
                        </a:rPr>
                        <a:t>情绪识别置信度仅下降 3 个百分点（81%→78%）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765738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1">
                          <a:effectLst/>
                          <a:latin typeface="quote-cjk-patch"/>
                        </a:rPr>
                        <a:t>检测后端</a:t>
                      </a:r>
                      <a:endParaRPr lang="zh-CN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zh-CN" b="0" dirty="0">
                          <a:effectLst/>
                          <a:latin typeface="Menlo"/>
                        </a:rPr>
                        <a:t>opencv</a:t>
                      </a:r>
                      <a:r>
                        <a:rPr lang="zh-CN" b="0" dirty="0">
                          <a:effectLst/>
                          <a:latin typeface="quote-cjk-patch"/>
                        </a:rPr>
                        <a:t> 速度最快（推理时间 ~70ms），适合实时场景；</a:t>
                      </a:r>
                      <a:br>
                        <a:rPr lang="zh-CN" b="0" dirty="0">
                          <a:effectLst/>
                          <a:latin typeface="quote-cjk-patch"/>
                        </a:rPr>
                      </a:br>
                      <a:r>
                        <a:rPr lang="zh-CN" b="0" dirty="0">
                          <a:effectLst/>
                          <a:latin typeface="Menlo"/>
                        </a:rPr>
                        <a:t>mtcnn</a:t>
                      </a:r>
                      <a:r>
                        <a:rPr lang="zh-CN" b="0" dirty="0">
                          <a:effectLst/>
                          <a:latin typeface="quote-cjk-patch"/>
                        </a:rPr>
                        <a:t> 准确率更高（+4~5%），但耗时增加约 80%，适合离线或高性能设备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79218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1">
                          <a:effectLst/>
                          <a:latin typeface="quote-cjk-patch"/>
                        </a:rPr>
                        <a:t>识别模型</a:t>
                      </a:r>
                      <a:endParaRPr lang="zh-CN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zh-CN" b="0" dirty="0">
                          <a:effectLst/>
                          <a:latin typeface="Menlo"/>
                        </a:rPr>
                        <a:t>Facenet</a:t>
                      </a:r>
                      <a:r>
                        <a:rPr lang="zh-CN" b="0" dirty="0">
                          <a:effectLst/>
                          <a:latin typeface="quote-cjk-patch"/>
                        </a:rPr>
                        <a:t> 综合性价比最高（91% 成功率, 67ms）；</a:t>
                      </a:r>
                      <a:br>
                        <a:rPr lang="zh-CN" b="0" dirty="0">
                          <a:effectLst/>
                          <a:latin typeface="quote-cjk-patch"/>
                        </a:rPr>
                      </a:br>
                      <a:r>
                        <a:rPr lang="zh-CN" b="0" dirty="0">
                          <a:effectLst/>
                          <a:latin typeface="Menlo"/>
                        </a:rPr>
                        <a:t>Facenet512</a:t>
                      </a:r>
                      <a:r>
                        <a:rPr lang="zh-CN" b="0" dirty="0">
                          <a:effectLst/>
                          <a:latin typeface="quote-cjk-patch"/>
                        </a:rPr>
                        <a:t> / </a:t>
                      </a:r>
                      <a:r>
                        <a:rPr lang="zh-CN" b="0" dirty="0">
                          <a:effectLst/>
                          <a:latin typeface="Menlo"/>
                        </a:rPr>
                        <a:t>ArcFace</a:t>
                      </a:r>
                      <a:r>
                        <a:rPr lang="zh-CN" b="0" dirty="0">
                          <a:effectLst/>
                          <a:latin typeface="quote-cjk-patch"/>
                        </a:rPr>
                        <a:t> 提升有限，代价是 40~70% 延迟增加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704705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1">
                          <a:effectLst/>
                          <a:latin typeface="quote-cjk-patch"/>
                        </a:rPr>
                        <a:t>其他参数</a:t>
                      </a:r>
                      <a:endParaRPr lang="zh-CN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b="0" dirty="0">
                          <a:effectLst/>
                          <a:latin typeface="quote-cjk-patch"/>
                        </a:rPr>
                        <a:t>降低摄像头分辨率（640→320）可大幅降低 CPU 占用（-60%），</a:t>
                      </a:r>
                      <a:br>
                        <a:rPr lang="zh-CN" b="0" dirty="0">
                          <a:effectLst/>
                          <a:latin typeface="quote-cjk-patch"/>
                        </a:rPr>
                      </a:br>
                      <a:r>
                        <a:rPr lang="zh-CN" b="0" dirty="0">
                          <a:effectLst/>
                          <a:latin typeface="quote-cjk-patch"/>
                        </a:rPr>
                        <a:t>但准确率下降约 10%，谨慎使用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194902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3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1033</Words>
  <Application>Microsoft Office PowerPoint</Application>
  <PresentationFormat>宽屏</PresentationFormat>
  <Paragraphs>218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Menlo</vt:lpstr>
      <vt:lpstr>quote-cjk-patch</vt:lpstr>
      <vt:lpstr>等线</vt:lpstr>
      <vt:lpstr>等线 Light</vt:lpstr>
      <vt:lpstr>Arial</vt:lpstr>
      <vt:lpstr>Office 主题​​</vt:lpstr>
      <vt:lpstr>实时人脸情绪识别系统——基于DeepFace与OpenCV</vt:lpstr>
      <vt:lpstr>项目概述</vt:lpstr>
      <vt:lpstr>PowerPoint 演示文稿</vt:lpstr>
      <vt:lpstr>人脸检测</vt:lpstr>
      <vt:lpstr>情绪识别模型</vt:lpstr>
      <vt:lpstr>一些影响结果的参数（识别模型，检测后端，处理帧率）</vt:lpstr>
      <vt:lpstr>PowerPoint 演示文稿</vt:lpstr>
      <vt:lpstr>PROCESS_EVERY_N_FRAMES</vt:lpstr>
      <vt:lpstr>PowerPoint 演示文稿</vt:lpstr>
      <vt:lpstr>跳帧对帧率和置信度的影响（实测与趋势解释）</vt:lpstr>
      <vt:lpstr>结论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奕翔 盛</dc:creator>
  <cp:lastModifiedBy>奕翔 盛</cp:lastModifiedBy>
  <cp:revision>11</cp:revision>
  <dcterms:created xsi:type="dcterms:W3CDTF">2026-06-14T17:26:56Z</dcterms:created>
  <dcterms:modified xsi:type="dcterms:W3CDTF">2026-06-15T05:39:39Z</dcterms:modified>
</cp:coreProperties>
</file>